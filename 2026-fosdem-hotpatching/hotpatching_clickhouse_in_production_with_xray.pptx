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Inter SemiBold"/>
      <p:regular r:id="rId45"/>
      <p:bold r:id="rId46"/>
      <p:italic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Inconsolata"/>
      <p:regular r:id="rId53"/>
      <p:bold r:id="rId54"/>
    </p:embeddedFont>
    <p:embeddedFont>
      <p:font typeface="Inter"/>
      <p:regular r:id="rId55"/>
      <p:bold r:id="rId56"/>
      <p:italic r:id="rId57"/>
      <p:boldItalic r:id="rId58"/>
    </p:embeddedFont>
    <p:embeddedFont>
      <p:font typeface="Inter ExtraBold"/>
      <p:bold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Inter Black"/>
      <p:bold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InterSemiBold-bold.fntdata"/><Relationship Id="rId45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SemiBold-boldItalic.fntdata"/><Relationship Id="rId47" Type="http://schemas.openxmlformats.org/officeDocument/2006/relationships/font" Target="fonts/InterSemiBold-italic.fntdata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Medium-bold.fntdata"/><Relationship Id="rId61" Type="http://schemas.openxmlformats.org/officeDocument/2006/relationships/font" Target="fonts/InterMedium-regular.fntdata"/><Relationship Id="rId20" Type="http://schemas.openxmlformats.org/officeDocument/2006/relationships/slide" Target="slides/slide15.xml"/><Relationship Id="rId64" Type="http://schemas.openxmlformats.org/officeDocument/2006/relationships/font" Target="fonts/InterMedium-boldItalic.fntdata"/><Relationship Id="rId63" Type="http://schemas.openxmlformats.org/officeDocument/2006/relationships/font" Target="fonts/InterMedium-italic.fntdata"/><Relationship Id="rId22" Type="http://schemas.openxmlformats.org/officeDocument/2006/relationships/slide" Target="slides/slide17.xml"/><Relationship Id="rId66" Type="http://schemas.openxmlformats.org/officeDocument/2006/relationships/font" Target="fonts/InterBlack-boldItalic.fntdata"/><Relationship Id="rId21" Type="http://schemas.openxmlformats.org/officeDocument/2006/relationships/slide" Target="slides/slide16.xml"/><Relationship Id="rId65" Type="http://schemas.openxmlformats.org/officeDocument/2006/relationships/font" Target="fonts/InterBlack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Extra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Inconsolata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Inter-regular.fntdata"/><Relationship Id="rId10" Type="http://schemas.openxmlformats.org/officeDocument/2006/relationships/slide" Target="slides/slide5.xml"/><Relationship Id="rId54" Type="http://schemas.openxmlformats.org/officeDocument/2006/relationships/font" Target="fonts/Inconsolata-bold.fntdata"/><Relationship Id="rId13" Type="http://schemas.openxmlformats.org/officeDocument/2006/relationships/slide" Target="slides/slide8.xml"/><Relationship Id="rId57" Type="http://schemas.openxmlformats.org/officeDocument/2006/relationships/font" Target="fonts/Inter-italic.fntdata"/><Relationship Id="rId12" Type="http://schemas.openxmlformats.org/officeDocument/2006/relationships/slide" Target="slides/slide7.xml"/><Relationship Id="rId56" Type="http://schemas.openxmlformats.org/officeDocument/2006/relationships/font" Target="fonts/Inter-bold.fntdata"/><Relationship Id="rId15" Type="http://schemas.openxmlformats.org/officeDocument/2006/relationships/slide" Target="slides/slide10.xml"/><Relationship Id="rId59" Type="http://schemas.openxmlformats.org/officeDocument/2006/relationships/font" Target="fonts/InterExtraBold-bold.fntdata"/><Relationship Id="rId14" Type="http://schemas.openxmlformats.org/officeDocument/2006/relationships/slide" Target="slides/slide9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fd05884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fd05884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392549bb3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392549bb3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92549bb3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392549bb3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f7b9b47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f7b9b47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f7b9b47e4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f7b9b47e4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f7b9b47e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f7b9b47e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f7b9b47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f7b9b47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f7b9b47e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f7b9b47e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f7b9b47e4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f7b9b47e4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2549bb3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392549bb3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f7b9b47e4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f7b9b47e4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f7b9b47e4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f7b9b47e4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f7b9b47e4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f7b9b47e4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f7b9b47e4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bf7b9b47e4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f7b9b47e4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f7b9b47e4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f7b9b47e4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f7b9b47e4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f7b9b47e4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f7b9b47e4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f7b9b47e4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f7b9b47e4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f7b9b47e4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f7b9b47e4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f7b9b47e4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f7b9b47e4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f7b9b47e4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f7b9b47e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7b9b47e4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bf7b9b47e4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f7b9b47e4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f7b9b47e4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7b9b47e4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f7b9b47e4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f7b9b47e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f7b9b47e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f7b9b47e4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f7b9b47e4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7b9b47e4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f7b9b47e4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f7b9b47e4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f7b9b47e4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7b9b47e4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f7b9b47e4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f7b9b47e4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bf7b9b47e4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f7b9b47e4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f7b9b47e4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7b9b47e4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bf7b9b47e4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f7b9b47e4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f7b9b47e4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f7b9b47e4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bf7b9b47e4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7b9b47e4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bf7b9b47e4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f7b9b47e4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bf7b9b47e4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7b9b47e4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bf7b9b47e4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f7b9b47e4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bf7b9b47e4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This is for </a:t>
            </a:r>
            <a:r>
              <a:rPr lang="e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Ilya Andreev</a:t>
            </a:r>
            <a:r>
              <a:rPr lang="es"/>
              <a:t> for SRE day london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7b9b47e4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bf7b9b47e4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resentation">
  <p:cSld name="TITLE_1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0" y="1090950"/>
            <a:ext cx="8520600" cy="14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529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Inter SemiBold"/>
              <a:buNone/>
              <a:defRPr>
                <a:solidFill>
                  <a:srgbClr val="80808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285533" y="4535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3742075"/>
            <a:ext cx="9144000" cy="1401425"/>
          </a:xfrm>
          <a:prstGeom prst="flowChartManualInpu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idx="2" type="title"/>
          </p:nvPr>
        </p:nvSpPr>
        <p:spPr>
          <a:xfrm>
            <a:off x="448775" y="4297300"/>
            <a:ext cx="2591400" cy="523200"/>
          </a:xfrm>
          <a:prstGeom prst="rect">
            <a:avLst/>
          </a:prstGeom>
          <a:solidFill>
            <a:srgbClr val="1E1E1E"/>
          </a:solidFill>
        </p:spPr>
        <p:txBody>
          <a:bodyPr anchorCtr="0" anchor="ctr" bIns="91425" lIns="144000" spcFirstLastPara="1" rIns="144000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400" y="513675"/>
            <a:ext cx="1877576" cy="3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TITLE_ONL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0" y="1284125"/>
            <a:ext cx="7658100" cy="12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>
            <a:off x="0" y="3742075"/>
            <a:ext cx="9144000" cy="1401425"/>
          </a:xfrm>
          <a:prstGeom prst="flowChartManualInpu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400" y="529977"/>
            <a:ext cx="1877494" cy="3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11700" y="241937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None/>
              <a:defRPr sz="16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(dark mode)">
  <p:cSld name="TITLE_ONLY_1_1">
    <p:bg>
      <p:bgPr>
        <a:solidFill>
          <a:srgbClr val="151515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285375" y="1074800"/>
            <a:ext cx="5672700" cy="13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b="0" sz="520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27600" y="1718375"/>
            <a:ext cx="9144000" cy="1890925"/>
          </a:xfrm>
          <a:custGeom>
            <a:rect b="b" l="l" r="r" t="t"/>
            <a:pathLst>
              <a:path extrusionOk="0" h="75637" w="365760">
                <a:moveTo>
                  <a:pt x="0" y="75637"/>
                </a:moveTo>
                <a:lnTo>
                  <a:pt x="223597" y="75637"/>
                </a:lnTo>
                <a:lnTo>
                  <a:pt x="273285" y="828"/>
                </a:lnTo>
                <a:lnTo>
                  <a:pt x="365760" y="0"/>
                </a:lnTo>
              </a:path>
            </a:pathLst>
          </a:custGeom>
          <a:noFill/>
          <a:ln cap="flat" cmpd="sng" w="28575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" name="Google Shape;23;p4"/>
          <p:cNvSpPr/>
          <p:nvPr/>
        </p:nvSpPr>
        <p:spPr>
          <a:xfrm>
            <a:off x="104100" y="2415400"/>
            <a:ext cx="9039900" cy="1752875"/>
          </a:xfrm>
          <a:custGeom>
            <a:rect b="b" l="l" r="r" t="t"/>
            <a:pathLst>
              <a:path extrusionOk="0" h="70115" w="361596">
                <a:moveTo>
                  <a:pt x="0" y="69716"/>
                </a:moveTo>
                <a:lnTo>
                  <a:pt x="244001" y="70115"/>
                </a:lnTo>
                <a:lnTo>
                  <a:pt x="285684" y="276"/>
                </a:lnTo>
                <a:lnTo>
                  <a:pt x="361596" y="0"/>
                </a:lnTo>
              </a:path>
            </a:pathLst>
          </a:custGeom>
          <a:noFill/>
          <a:ln cap="flat" cmpd="sng" w="28575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4" name="Google Shape;24;p4"/>
          <p:cNvCxnSpPr/>
          <p:nvPr/>
        </p:nvCxnSpPr>
        <p:spPr>
          <a:xfrm>
            <a:off x="2208350" y="3609288"/>
            <a:ext cx="1587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3018725" y="4168263"/>
            <a:ext cx="1587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400" y="513675"/>
            <a:ext cx="1877576" cy="3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311700" y="2474400"/>
            <a:ext cx="5646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TITLE_ONLY_1_1_1">
    <p:bg>
      <p:bgPr>
        <a:solidFill>
          <a:srgbClr val="151515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67500" y="363575"/>
            <a:ext cx="7809000" cy="3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b="0" sz="52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76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32" name="Google Shape;32;p5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5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">
  <p:cSld name="ONE_COLUMN_TEXT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311700" y="1443125"/>
            <a:ext cx="85206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grpSp>
        <p:nvGrpSpPr>
          <p:cNvPr id="40" name="Google Shape;40;p6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41" name="Google Shape;41;p6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" name="Google Shape;4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 1 - no logo">
  <p:cSld name="ONE_COLUMN_TEXT_3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" name="Google Shape;49;p7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311700" y="1443125"/>
            <a:ext cx="85206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 (dark mode)">
  <p:cSld name="ONE_COLUMN_TEXT_3_1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55" name="Google Shape;55;p8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56" name="Google Shape;56;p8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8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©2026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8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311700" y="1443125"/>
            <a:ext cx="85206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 without yellow bar (dark mode)">
  <p:cSld name="ONE_COLUMN_TEXT_3_1_1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9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311700" y="1443125"/>
            <a:ext cx="85206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84" y="4846500"/>
            <a:ext cx="881628" cy="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 2 columns">
  <p:cSld name="ONE_COLUMN_TEXT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311700" y="1443170"/>
            <a:ext cx="3809100" cy="27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grpSp>
        <p:nvGrpSpPr>
          <p:cNvPr id="73" name="Google Shape;73;p10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74" name="Google Shape;74;p10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0" y="4680175"/>
              <a:ext cx="4541925" cy="46155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4578900" y="1443125"/>
            <a:ext cx="3809100" cy="27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3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 products">
  <p:cSld name="ONE_COLUMN_TEXT_2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4414225" y="-6400"/>
            <a:ext cx="4736100" cy="5176800"/>
          </a:xfrm>
          <a:prstGeom prst="rect">
            <a:avLst/>
          </a:prstGeom>
          <a:solidFill>
            <a:srgbClr val="151515"/>
          </a:solidFill>
          <a:ln cap="flat" cmpd="sng" w="9525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883700" y="1229901"/>
            <a:ext cx="39000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None/>
              <a:defRPr b="1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311700" y="2201877"/>
            <a:ext cx="3809100" cy="2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ter Medium"/>
              <a:buChar char="－"/>
              <a:defRPr sz="1400">
                <a:solidFill>
                  <a:srgbClr val="151515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 Medium"/>
              <a:buChar char="○"/>
              <a:defRPr sz="1200">
                <a:solidFill>
                  <a:srgbClr val="151515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●"/>
              <a:defRPr sz="1000">
                <a:solidFill>
                  <a:srgbClr val="151515"/>
                </a:solidFill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○"/>
              <a:defRPr sz="1000">
                <a:solidFill>
                  <a:srgbClr val="151515"/>
                </a:solidFill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●"/>
              <a:defRPr sz="1000">
                <a:solidFill>
                  <a:srgbClr val="151515"/>
                </a:solidFill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○"/>
              <a:defRPr sz="1000">
                <a:solidFill>
                  <a:srgbClr val="151515"/>
                </a:solidFill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2" type="title"/>
          </p:nvPr>
        </p:nvSpPr>
        <p:spPr>
          <a:xfrm>
            <a:off x="311700" y="1229901"/>
            <a:ext cx="39000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 sz="1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" name="Google Shape;87;p11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84" y="4846500"/>
            <a:ext cx="881628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883700" y="2201887"/>
            <a:ext cx="39600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400"/>
              <a:buFont typeface="Inter Medium"/>
              <a:buChar char="✓"/>
              <a:defRPr sz="1400">
                <a:solidFill>
                  <a:srgbClr val="F0F0F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Font typeface="Inter Medium"/>
              <a:buChar char="○"/>
              <a:defRPr sz="1200">
                <a:solidFill>
                  <a:srgbClr val="F0F0F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●"/>
              <a:defRPr sz="1000">
                <a:solidFill>
                  <a:srgbClr val="F0F0F1"/>
                </a:solidFill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○"/>
              <a:defRPr sz="1000">
                <a:solidFill>
                  <a:srgbClr val="F0F0F1"/>
                </a:solidFill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●"/>
              <a:defRPr sz="1000">
                <a:solidFill>
                  <a:srgbClr val="F0F0F1"/>
                </a:solidFill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○"/>
              <a:defRPr sz="1000">
                <a:solidFill>
                  <a:srgbClr val="F0F0F1"/>
                </a:solidFill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4627" y="385925"/>
            <a:ext cx="1955302" cy="3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/>
          <p:nvPr/>
        </p:nvSpPr>
        <p:spPr>
          <a:xfrm>
            <a:off x="4120800" y="261100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1"/>
          <p:cNvSpPr/>
          <p:nvPr>
            <p:ph idx="4" type="pic"/>
          </p:nvPr>
        </p:nvSpPr>
        <p:spPr>
          <a:xfrm>
            <a:off x="1223250" y="358900"/>
            <a:ext cx="1986000" cy="39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heavy slide 2 columns (dark mode)">
  <p:cSld name="ONE_COLUMN_TEXT_2_1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311700" y="1439175"/>
            <a:ext cx="38091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96" name="Google Shape;96;p12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97" name="Google Shape;97;p12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2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4578900" y="1439175"/>
            <a:ext cx="38091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/>
          <p:nvPr>
            <p:ph idx="3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ONE_COLUMN_TEXT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06" name="Google Shape;106;p13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107" name="Google Shape;107;p13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0" y="4679425"/>
              <a:ext cx="4541925" cy="4623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3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(dark mode)">
  <p:cSld name="ONE_COLUMN_TEXT_1_1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15" name="Google Shape;115;p14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116" name="Google Shape;116;p14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cap="flat" cmpd="sng" w="9525">
              <a:solidFill>
                <a:srgbClr val="FBFF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4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- no logo">
  <p:cSld name="ONE_COLUMN_TEXT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5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(dark mode) - with logo">
  <p:cSld name="ONE_COLUMN_TEXT_1_1_1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9" name="Google Shape;129;p16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6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2" name="Google Shape;13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84" y="4846500"/>
            <a:ext cx="881628" cy="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(dark mode) - no logo">
  <p:cSld name="ONE_COLUMN_TEXT_1_1_1_1"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5" name="Google Shape;135;p17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ess text heavy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 flipH="1" rot="-5400000">
            <a:off x="4888125" y="866625"/>
            <a:ext cx="5171350" cy="3410900"/>
          </a:xfrm>
          <a:prstGeom prst="flowChartManualInput">
            <a:avLst/>
          </a:prstGeom>
          <a:solidFill>
            <a:srgbClr val="FBF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311700" y="368825"/>
            <a:ext cx="54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311700" y="865325"/>
            <a:ext cx="54567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2" type="body"/>
          </p:nvPr>
        </p:nvSpPr>
        <p:spPr>
          <a:xfrm>
            <a:off x="311700" y="1443175"/>
            <a:ext cx="5430600" cy="27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ess text heavy black side">
  <p:cSld name="MAIN_POINT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368825"/>
            <a:ext cx="5237400" cy="9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48" name="Google Shape;148;p19"/>
          <p:cNvGrpSpPr/>
          <p:nvPr/>
        </p:nvGrpSpPr>
        <p:grpSpPr>
          <a:xfrm>
            <a:off x="5947449" y="-5875"/>
            <a:ext cx="3201379" cy="5171104"/>
            <a:chOff x="5014925" y="5700"/>
            <a:chExt cx="4948800" cy="5132100"/>
          </a:xfrm>
        </p:grpSpPr>
        <p:sp>
          <p:nvSpPr>
            <p:cNvPr id="149" name="Google Shape;149;p19"/>
            <p:cNvSpPr/>
            <p:nvPr/>
          </p:nvSpPr>
          <p:spPr>
            <a:xfrm flipH="1" rot="-5400000">
              <a:off x="4923275" y="97350"/>
              <a:ext cx="5132100" cy="4948800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" name="Google Shape;15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97650" y="4703624"/>
              <a:ext cx="349050" cy="34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19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884" y="4846500"/>
            <a:ext cx="881628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311700" y="1443170"/>
            <a:ext cx="3809100" cy="27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2" type="subTitle"/>
          </p:nvPr>
        </p:nvSpPr>
        <p:spPr>
          <a:xfrm>
            <a:off x="311700" y="865325"/>
            <a:ext cx="52374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ess text heavy (dark mode)">
  <p:cSld name="MAIN_POINT_1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368825"/>
            <a:ext cx="54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0"/>
          <p:cNvSpPr/>
          <p:nvPr/>
        </p:nvSpPr>
        <p:spPr>
          <a:xfrm flipH="1" rot="-5400000">
            <a:off x="4888125" y="866625"/>
            <a:ext cx="5171350" cy="3410900"/>
          </a:xfrm>
          <a:prstGeom prst="flowChartManualInput">
            <a:avLst/>
          </a:prstGeom>
          <a:solidFill>
            <a:srgbClr val="FBF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dk2"/>
                </a:solidFill>
              </a:rPr>
              <a:t>‹#›</a:t>
            </a:fld>
            <a:endParaRPr b="1"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1439175"/>
            <a:ext cx="38091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" type="subTitle"/>
          </p:nvPr>
        </p:nvSpPr>
        <p:spPr>
          <a:xfrm>
            <a:off x="311700" y="865325"/>
            <a:ext cx="54921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 highlight">
  <p:cSld name="SECTION_TITLE_AND_DESCRIPTI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5947700" y="-125"/>
            <a:ext cx="3196500" cy="5143500"/>
          </a:xfrm>
          <a:prstGeom prst="rec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368825"/>
            <a:ext cx="5237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311700" y="1443170"/>
            <a:ext cx="3809100" cy="27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6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200"/>
              <a:buChar char="○"/>
              <a:defRPr>
                <a:solidFill>
                  <a:srgbClr val="41414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●"/>
              <a:defRPr>
                <a:solidFill>
                  <a:srgbClr val="41414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○"/>
              <a:defRPr>
                <a:solidFill>
                  <a:srgbClr val="41414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200"/>
              <a:buChar char="■"/>
              <a:defRPr>
                <a:solidFill>
                  <a:srgbClr val="414141"/>
                </a:solidFill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2" type="subTitle"/>
          </p:nvPr>
        </p:nvSpPr>
        <p:spPr>
          <a:xfrm>
            <a:off x="311700" y="865325"/>
            <a:ext cx="52374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 highlight (dark mode)">
  <p:cSld name="SECTION_TITLE_AND_DESCRIPTION_2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5934175" y="-125"/>
            <a:ext cx="3209700" cy="5143500"/>
          </a:xfrm>
          <a:prstGeom prst="rec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368825"/>
            <a:ext cx="543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nter"/>
              <a:buNone/>
              <a:defRPr b="1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5" name="Google Shape;175;p22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dk2"/>
                </a:solidFill>
              </a:rPr>
              <a:t>‹#›</a:t>
            </a:fld>
            <a:endParaRPr b="1"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311700" y="1439175"/>
            <a:ext cx="38091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311700" y="865325"/>
            <a:ext cx="54921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quote">
  <p:cSld name="SECTION_TITLE_AND_DESCRIPTION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5224275" y="-125"/>
            <a:ext cx="3919800" cy="5143500"/>
          </a:xfrm>
          <a:prstGeom prst="rec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70300" y="1318575"/>
            <a:ext cx="46284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i="1" sz="1600">
                <a:solidFill>
                  <a:schemeClr val="dk1"/>
                </a:solidFill>
              </a:defRPr>
            </a:lvl1pPr>
            <a:lvl2pPr indent="-3302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i="1">
                <a:solidFill>
                  <a:schemeClr val="dk1"/>
                </a:solidFill>
              </a:defRPr>
            </a:lvl2pPr>
            <a:lvl3pPr indent="-31115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  <a:defRPr i="1" sz="1300">
                <a:solidFill>
                  <a:schemeClr val="dk1"/>
                </a:solidFill>
              </a:defRPr>
            </a:lvl3pPr>
            <a:lvl4pPr indent="-31115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i="1" sz="1300">
                <a:solidFill>
                  <a:schemeClr val="dk1"/>
                </a:solidFill>
              </a:defRPr>
            </a:lvl4pPr>
            <a:lvl5pPr indent="-31115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  <a:defRPr i="1" sz="13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i="1"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i="1"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i="1" sz="1200">
                <a:solidFill>
                  <a:schemeClr val="dk1"/>
                </a:solidFill>
              </a:defRPr>
            </a:lvl8pPr>
            <a:lvl9pPr indent="-29845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 i="1"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23"/>
          <p:cNvSpPr txBox="1"/>
          <p:nvPr/>
        </p:nvSpPr>
        <p:spPr>
          <a:xfrm>
            <a:off x="370300" y="304200"/>
            <a:ext cx="98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0">
                <a:solidFill>
                  <a:srgbClr val="161600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sz="12000">
              <a:solidFill>
                <a:srgbClr val="161600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 quote (dark mode)">
  <p:cSld name="SECTION_TITLE_AND_DESCRIPTION_1_1">
    <p:bg>
      <p:bgPr>
        <a:solidFill>
          <a:srgbClr val="15151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/>
        </p:nvSpPr>
        <p:spPr>
          <a:xfrm>
            <a:off x="5224275" y="-125"/>
            <a:ext cx="3919800" cy="5143500"/>
          </a:xfrm>
          <a:prstGeom prst="rect">
            <a:avLst/>
          </a:prstGeom>
          <a:solidFill>
            <a:srgbClr val="FBFF56"/>
          </a:solidFill>
          <a:ln cap="flat" cmpd="sng" w="9525">
            <a:solidFill>
              <a:srgbClr val="FBF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370300" y="1318575"/>
            <a:ext cx="4628400" cy="25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600"/>
              <a:buChar char="●"/>
              <a:defRPr i="1" sz="1600">
                <a:solidFill>
                  <a:srgbClr val="F0F0F1"/>
                </a:solidFill>
              </a:defRPr>
            </a:lvl1pPr>
            <a:lvl2pPr indent="-3302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600"/>
              <a:buChar char="○"/>
              <a:defRPr i="1">
                <a:solidFill>
                  <a:srgbClr val="F0F0F1"/>
                </a:solidFill>
              </a:defRPr>
            </a:lvl2pPr>
            <a:lvl3pPr indent="-31115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■"/>
              <a:defRPr i="1" sz="1300">
                <a:solidFill>
                  <a:srgbClr val="F0F0F1"/>
                </a:solidFill>
              </a:defRPr>
            </a:lvl3pPr>
            <a:lvl4pPr indent="-31115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●"/>
              <a:defRPr i="1" sz="1300">
                <a:solidFill>
                  <a:srgbClr val="F0F0F1"/>
                </a:solidFill>
              </a:defRPr>
            </a:lvl4pPr>
            <a:lvl5pPr indent="-31115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○"/>
              <a:defRPr i="1" sz="1300">
                <a:solidFill>
                  <a:srgbClr val="F0F0F1"/>
                </a:solidFill>
              </a:defRPr>
            </a:lvl5pPr>
            <a:lvl6pPr indent="-3048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■"/>
              <a:defRPr i="1" sz="1200">
                <a:solidFill>
                  <a:srgbClr val="F0F0F1"/>
                </a:solidFill>
              </a:defRPr>
            </a:lvl6pPr>
            <a:lvl7pPr indent="-3048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●"/>
              <a:defRPr i="1" sz="1200">
                <a:solidFill>
                  <a:srgbClr val="F0F0F1"/>
                </a:solidFill>
              </a:defRPr>
            </a:lvl7pPr>
            <a:lvl8pPr indent="-3048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○"/>
              <a:defRPr i="1" sz="1200">
                <a:solidFill>
                  <a:srgbClr val="F0F0F1"/>
                </a:solidFill>
              </a:defRPr>
            </a:lvl8pPr>
            <a:lvl9pPr indent="-29845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100"/>
              <a:buChar char="■"/>
              <a:defRPr i="1" sz="1100">
                <a:solidFill>
                  <a:srgbClr val="F0F0F1"/>
                </a:solidFill>
              </a:defRPr>
            </a:lvl9pPr>
          </a:lstStyle>
          <a:p/>
        </p:txBody>
      </p:sp>
      <p:sp>
        <p:nvSpPr>
          <p:cNvPr id="190" name="Google Shape;190;p24"/>
          <p:cNvSpPr txBox="1"/>
          <p:nvPr/>
        </p:nvSpPr>
        <p:spPr>
          <a:xfrm>
            <a:off x="370300" y="304200"/>
            <a:ext cx="98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0">
                <a:solidFill>
                  <a:srgbClr val="FBFF56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sz="12000">
              <a:solidFill>
                <a:srgbClr val="FBFF56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dk2"/>
                </a:solidFill>
              </a:rPr>
              <a:t>‹#›</a:t>
            </a:fld>
            <a:endParaRPr b="1"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slide light background">
  <p:cSld name="CUSTOM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6" name="Google Shape;196;p25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2" type="body"/>
          </p:nvPr>
        </p:nvSpPr>
        <p:spPr>
          <a:xfrm>
            <a:off x="311700" y="1468800"/>
            <a:ext cx="8520600" cy="3122400"/>
          </a:xfrm>
          <a:prstGeom prst="rect">
            <a:avLst/>
          </a:prstGeom>
          <a:solidFill>
            <a:srgbClr val="F0F0F1"/>
          </a:solidFill>
        </p:spPr>
        <p:txBody>
          <a:bodyPr anchorCtr="0" anchor="t" bIns="91425" lIns="198000" spcFirstLastPara="1" rIns="91425" wrap="square" tIns="19800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●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○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■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●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○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■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●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○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consolata"/>
              <a:buChar char="■"/>
              <a:defRPr sz="10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slide dark background">
  <p:cSld name="CUSTOM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311700" y="1468800"/>
            <a:ext cx="8520600" cy="3122400"/>
          </a:xfrm>
          <a:prstGeom prst="rect">
            <a:avLst/>
          </a:prstGeom>
          <a:solidFill>
            <a:srgbClr val="151515"/>
          </a:solidFill>
        </p:spPr>
        <p:txBody>
          <a:bodyPr anchorCtr="0" anchor="t" bIns="91425" lIns="198000" spcFirstLastPara="1" rIns="91425" wrap="square" tIns="19800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 algn="r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slide (dark mode)">
  <p:cSld name="CUSTOM_1_1"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b="1" sz="2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27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dk2"/>
                </a:solidFill>
              </a:rPr>
              <a:t>‹#›</a:t>
            </a:fld>
            <a:endParaRPr b="1" sz="6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84" y="4846500"/>
            <a:ext cx="881628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>
            <p:ph idx="1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2" type="body"/>
          </p:nvPr>
        </p:nvSpPr>
        <p:spPr>
          <a:xfrm>
            <a:off x="311700" y="1468800"/>
            <a:ext cx="8520600" cy="3122400"/>
          </a:xfrm>
          <a:prstGeom prst="rect">
            <a:avLst/>
          </a:prstGeom>
          <a:solidFill>
            <a:srgbClr val="282828"/>
          </a:solidFill>
        </p:spPr>
        <p:txBody>
          <a:bodyPr anchorCtr="0" anchor="t" bIns="91425" lIns="198000" spcFirstLastPara="1" rIns="91425" wrap="square" tIns="19800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311700" y="1543800"/>
            <a:ext cx="8520600" cy="28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28"/>
          <p:cNvSpPr txBox="1"/>
          <p:nvPr/>
        </p:nvSpPr>
        <p:spPr>
          <a:xfrm>
            <a:off x="415225" y="4910550"/>
            <a:ext cx="22455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s" sz="5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CLICKHOUSE INC.</a:t>
            </a:r>
            <a:endParaRPr sz="55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218025" y="4910550"/>
            <a:ext cx="1701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600">
                <a:solidFill>
                  <a:schemeClr val="lt2"/>
                </a:solidFill>
              </a:rPr>
              <a:t>‹#›</a:t>
            </a:fld>
            <a:endParaRPr b="1" sz="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5875" y="4846501"/>
            <a:ext cx="881649" cy="1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>
            <p:ph idx="2" type="subTitle"/>
          </p:nvPr>
        </p:nvSpPr>
        <p:spPr>
          <a:xfrm>
            <a:off x="311700" y="865325"/>
            <a:ext cx="85206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43800"/>
            <a:ext cx="8520600" cy="28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Inter"/>
              <a:buChar char="●"/>
              <a:defRPr sz="18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Inter Medium"/>
              <a:buChar char="○"/>
              <a:defRPr sz="16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■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●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○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■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●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○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Inter Medium"/>
              <a:buChar char="■"/>
              <a:defRPr sz="1200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runtimecompiledcplusplus.blogspot.com.es/" TargetMode="External"/><Relationship Id="rId4" Type="http://schemas.openxmlformats.org/officeDocument/2006/relationships/hyperlink" Target="https://fungos.github.io/cr-simple-c-hot-reload/" TargetMode="External"/><Relationship Id="rId5" Type="http://schemas.openxmlformats.org/officeDocument/2006/relationships/hyperlink" Target="https://liveplusplus.tech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cc.gnu.org/onlinedocs/gcc/Instrumentation-Options.html#index-finstrument-functions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hyperlink" Target="https://gcc.gnu.org/onlinedocs/gcc/Instrumentation-Options.html#index-fpatchable-function-entry" TargetMode="External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lvm.org/docs/XRay.html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lickhouse.com/" TargetMode="External"/><Relationship Id="rId4" Type="http://schemas.openxmlformats.org/officeDocument/2006/relationships/hyperlink" Target="https://benchmark.clickhouse.com/" TargetMode="External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ClickHouse/ClickHouse/issues/74249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ClickHouse/ClickHouse/pull/89173" TargetMode="External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google.com/document/d/1CvAClvFfyA5R-PhYUmn5OOQtYMH4h6I0nSsKchNAySU/preview?tab=t.0" TargetMode="External"/><Relationship Id="rId4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.house/links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ctrTitle"/>
          </p:nvPr>
        </p:nvSpPr>
        <p:spPr>
          <a:xfrm>
            <a:off x="405903" y="1455663"/>
            <a:ext cx="8520600" cy="14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ClickHouse in production with XRay</a:t>
            </a:r>
            <a:endParaRPr/>
          </a:p>
        </p:txBody>
      </p:sp>
      <p:sp>
        <p:nvSpPr>
          <p:cNvPr id="228" name="Google Shape;228;p29"/>
          <p:cNvSpPr txBox="1"/>
          <p:nvPr>
            <p:ph idx="2" type="title"/>
          </p:nvPr>
        </p:nvSpPr>
        <p:spPr>
          <a:xfrm>
            <a:off x="448775" y="4297300"/>
            <a:ext cx="2661900" cy="523200"/>
          </a:xfrm>
          <a:prstGeom prst="rect">
            <a:avLst/>
          </a:prstGeom>
        </p:spPr>
        <p:txBody>
          <a:bodyPr anchorCtr="0" anchor="ctr" bIns="91425" lIns="144000" spcFirstLastPara="1" rIns="144000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FOSDEM 2026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416370" y="296894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C0C0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Pablo Marcos Oltra</a:t>
            </a:r>
            <a:endParaRPr sz="1600">
              <a:solidFill>
                <a:srgbClr val="C0C0C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$ whoami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3192450" y="1443125"/>
            <a:ext cx="5640000" cy="30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Pablo Marcos Oltra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Software Engineer @ ClickHouse’s Core Team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Systems Developer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Passionate about videogame development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Interested in compilers, build systems and new programming languages</a:t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75" y="1558899"/>
            <a:ext cx="2524876" cy="252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ctrTitle"/>
          </p:nvPr>
        </p:nvSpPr>
        <p:spPr>
          <a:xfrm>
            <a:off x="311700" y="1701438"/>
            <a:ext cx="8006100" cy="13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Who knows what hotpatching/hot reloading is?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ctrTitle"/>
          </p:nvPr>
        </p:nvSpPr>
        <p:spPr>
          <a:xfrm>
            <a:off x="311700" y="1701438"/>
            <a:ext cx="8006100" cy="13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Who knows what LLVM’s XRay is?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ctrTitle"/>
          </p:nvPr>
        </p:nvSpPr>
        <p:spPr>
          <a:xfrm>
            <a:off x="364035" y="1109502"/>
            <a:ext cx="8006100" cy="26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/>
              <a:t>Who’s had to debug something in production and wished they had added an extra log to know what’s happening?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ctrTitle"/>
          </p:nvPr>
        </p:nvSpPr>
        <p:spPr>
          <a:xfrm>
            <a:off x="2127500" y="2046434"/>
            <a:ext cx="65523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/>
              <a:t>What is hotpatching</a:t>
            </a:r>
            <a:endParaRPr sz="3900"/>
          </a:p>
        </p:txBody>
      </p:sp>
      <p:sp>
        <p:nvSpPr>
          <p:cNvPr id="257" name="Google Shape;257;p34"/>
          <p:cNvSpPr txBox="1"/>
          <p:nvPr/>
        </p:nvSpPr>
        <p:spPr>
          <a:xfrm>
            <a:off x="423575" y="1769625"/>
            <a:ext cx="1563600" cy="1107000"/>
          </a:xfrm>
          <a:prstGeom prst="rect">
            <a:avLst/>
          </a:prstGeom>
          <a:solidFill>
            <a:srgbClr val="161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>
                <a:solidFill>
                  <a:srgbClr val="FBFF56"/>
                </a:solidFill>
                <a:latin typeface="Inter Black"/>
                <a:ea typeface="Inter Black"/>
                <a:cs typeface="Inter Black"/>
                <a:sym typeface="Inter Black"/>
              </a:rPr>
              <a:t>01</a:t>
            </a:r>
            <a:endParaRPr sz="7000">
              <a:solidFill>
                <a:srgbClr val="FBFF56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Hotpatching: The basics</a:t>
            </a:r>
            <a:endParaRPr/>
          </a:p>
        </p:txBody>
      </p:sp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C</a:t>
            </a:r>
            <a:r>
              <a:rPr lang="es" sz="1400">
                <a:solidFill>
                  <a:srgbClr val="443F51"/>
                </a:solidFill>
              </a:rPr>
              <a:t>hange the code while the process is running</a:t>
            </a:r>
            <a:endParaRPr sz="1400">
              <a:solidFill>
                <a:srgbClr val="443F5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Allows faster iteration</a:t>
            </a:r>
            <a:endParaRPr sz="1400">
              <a:solidFill>
                <a:srgbClr val="443F5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Often done in videogame development</a:t>
            </a:r>
            <a:endParaRPr sz="1400">
              <a:solidFill>
                <a:srgbClr val="443F5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○"/>
            </a:pPr>
            <a:r>
              <a:rPr lang="es" sz="1400">
                <a:solidFill>
                  <a:srgbClr val="443F51"/>
                </a:solidFill>
              </a:rPr>
              <a:t>Hot reloading rather than hotpatching</a:t>
            </a:r>
            <a:endParaRPr sz="1400">
              <a:solidFill>
                <a:srgbClr val="443F5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○"/>
            </a:pPr>
            <a:r>
              <a:rPr lang="es" sz="1400">
                <a:solidFill>
                  <a:srgbClr val="443F51"/>
                </a:solidFill>
              </a:rPr>
              <a:t>Client-server architecture where the </a:t>
            </a:r>
            <a:r>
              <a:rPr lang="es" sz="1400">
                <a:solidFill>
                  <a:srgbClr val="443F51"/>
                </a:solidFill>
              </a:rPr>
              <a:t>lightweight</a:t>
            </a:r>
            <a:r>
              <a:rPr lang="es" sz="1400">
                <a:solidFill>
                  <a:srgbClr val="443F51"/>
                </a:solidFill>
              </a:rPr>
              <a:t> client loads a new version of the game (in a shared library)</a:t>
            </a:r>
            <a:endParaRPr sz="1400">
              <a:solidFill>
                <a:srgbClr val="443F5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○"/>
            </a:pPr>
            <a:r>
              <a:rPr lang="es" sz="1400">
                <a:solidFill>
                  <a:srgbClr val="443F51"/>
                </a:solidFill>
              </a:rPr>
              <a:t>Examples</a:t>
            </a:r>
            <a:endParaRPr sz="1400">
              <a:solidFill>
                <a:srgbClr val="443F51"/>
              </a:solidFill>
            </a:endParaRPr>
          </a:p>
          <a:p>
            <a:pPr indent="-3175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■"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http://runtimecompiledcplusplus.blogspot.com.es</a:t>
            </a:r>
            <a:endParaRPr>
              <a:solidFill>
                <a:srgbClr val="443F51"/>
              </a:solidFill>
            </a:endParaRPr>
          </a:p>
          <a:p>
            <a:pPr indent="-3175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■"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https://fungos.github.io/cr-simple-c-hot-reload</a:t>
            </a:r>
            <a:endParaRPr>
              <a:solidFill>
                <a:srgbClr val="443F51"/>
              </a:solidFill>
            </a:endParaRPr>
          </a:p>
          <a:p>
            <a:pPr indent="-3175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443F51"/>
              </a:buClr>
              <a:buSzPts val="1400"/>
              <a:buChar char="■"/>
            </a:pPr>
            <a:r>
              <a:rPr lang="es" sz="1400" u="sng">
                <a:solidFill>
                  <a:schemeClr val="hlink"/>
                </a:solidFill>
                <a:hlinkClick r:id="rId5"/>
              </a:rPr>
              <a:t>https://liveplusplus.tech</a:t>
            </a:r>
            <a:endParaRPr sz="1400">
              <a:solidFill>
                <a:srgbClr val="443F5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Hotpatching: Adding instrumentation</a:t>
            </a:r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-finstrument-functions : Generates instrumentation code for every function entry/exit</a:t>
            </a:r>
            <a:endParaRPr sz="1400">
              <a:solidFill>
                <a:srgbClr val="443F51"/>
              </a:solidFill>
            </a:endParaRPr>
          </a:p>
        </p:txBody>
      </p:sp>
      <p:sp>
        <p:nvSpPr>
          <p:cNvPr id="270" name="Google Shape;270;p36"/>
          <p:cNvSpPr txBox="1"/>
          <p:nvPr>
            <p:ph idx="4294967295" type="body"/>
          </p:nvPr>
        </p:nvSpPr>
        <p:spPr>
          <a:xfrm>
            <a:off x="311700" y="2186675"/>
            <a:ext cx="6387300" cy="7128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78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__cyg_profile_func_enter(void *this_fn, void *call_site);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6678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__cyg_profile_func_exit(void *this_fn, void *call_site);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77550" y="4144923"/>
            <a:ext cx="83889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3"/>
              </a:rPr>
              <a:t>https://gcc.gnu.org/onlinedocs/gcc/Instrumentation-Options.html#index-finstrument-functions</a:t>
            </a:r>
            <a:endParaRPr>
              <a:solidFill>
                <a:srgbClr val="443F5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72" name="Google Shape;27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3110" y="1706101"/>
            <a:ext cx="2172199" cy="22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Hotpatching: Adding instrumentation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311700" y="1086750"/>
            <a:ext cx="409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-fpatchable-function-entry=N[,M]:</a:t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>
                <a:solidFill>
                  <a:srgbClr val="443F51"/>
                </a:solidFill>
              </a:rPr>
              <a:t>Generate M NOPs before function entry and N-M NOPs after function entry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375" y="1025276"/>
            <a:ext cx="4531425" cy="30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/>
        </p:nvSpPr>
        <p:spPr>
          <a:xfrm>
            <a:off x="293079" y="4155425"/>
            <a:ext cx="86649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4"/>
              </a:rPr>
              <a:t>https://gcc.gnu.org/onlinedocs/gcc/Instrumentation-Options.html#index-fpatchable-function-entry</a:t>
            </a:r>
            <a:endParaRPr>
              <a:solidFill>
                <a:srgbClr val="443F5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550" y="2054975"/>
            <a:ext cx="1997300" cy="201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ctrTitle"/>
          </p:nvPr>
        </p:nvSpPr>
        <p:spPr>
          <a:xfrm>
            <a:off x="2127500" y="2046434"/>
            <a:ext cx="65523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900"/>
              <a:t>XRay</a:t>
            </a:r>
            <a:endParaRPr sz="3900"/>
          </a:p>
        </p:txBody>
      </p:sp>
      <p:sp>
        <p:nvSpPr>
          <p:cNvPr id="287" name="Google Shape;287;p38"/>
          <p:cNvSpPr txBox="1"/>
          <p:nvPr/>
        </p:nvSpPr>
        <p:spPr>
          <a:xfrm>
            <a:off x="423575" y="1769625"/>
            <a:ext cx="1563600" cy="1107000"/>
          </a:xfrm>
          <a:prstGeom prst="rect">
            <a:avLst/>
          </a:prstGeom>
          <a:solidFill>
            <a:srgbClr val="161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>
                <a:solidFill>
                  <a:srgbClr val="FBFF56"/>
                </a:solidFill>
                <a:latin typeface="Inter Black"/>
                <a:ea typeface="Inter Black"/>
                <a:cs typeface="Inter Black"/>
                <a:sym typeface="Inter Black"/>
              </a:rPr>
              <a:t>02</a:t>
            </a:r>
            <a:endParaRPr sz="7000">
              <a:solidFill>
                <a:srgbClr val="FBFF56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</a:t>
            </a:r>
            <a:endParaRPr/>
          </a:p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43F51"/>
                </a:solidFill>
              </a:rPr>
              <a:t>XRay consists of three main parts:</a:t>
            </a:r>
            <a:endParaRPr sz="1400">
              <a:solidFill>
                <a:srgbClr val="443F5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AutoNum type="arabicPeriod"/>
            </a:pPr>
            <a:r>
              <a:rPr lang="es" sz="1400">
                <a:solidFill>
                  <a:srgbClr val="443F51"/>
                </a:solidFill>
              </a:rPr>
              <a:t>Compiler-inserted instrumentation points.</a:t>
            </a:r>
            <a:endParaRPr sz="1400">
              <a:solidFill>
                <a:srgbClr val="443F5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AutoNum type="arabicPeriod"/>
            </a:pPr>
            <a:r>
              <a:rPr lang="es" sz="1400">
                <a:solidFill>
                  <a:srgbClr val="443F51"/>
                </a:solidFill>
              </a:rPr>
              <a:t>A runtime library for enabling/disabling tracing at runtime.</a:t>
            </a:r>
            <a:endParaRPr sz="1400">
              <a:solidFill>
                <a:srgbClr val="443F5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AutoNum type="arabicPeriod"/>
            </a:pPr>
            <a:r>
              <a:rPr lang="es" sz="1400">
                <a:solidFill>
                  <a:srgbClr val="443F51"/>
                </a:solidFill>
              </a:rPr>
              <a:t>A suite of tools for analysing the traces.</a:t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43F51"/>
                </a:solidFill>
              </a:rPr>
              <a:t>As of July 25, 2018, XRay is only available for the following architectures running Linux: </a:t>
            </a:r>
            <a:endParaRPr sz="13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43F51"/>
                </a:solidFill>
              </a:rPr>
              <a:t>x86_64, arm7 (no thumb), aarch64, powerpc64le, mips, mipsel, mips64, mips64el, NetBSD: x86_64, FreeBSD: x86_64 and OpenBSD: x86_64.</a:t>
            </a:r>
            <a:endParaRPr sz="13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https://llvm.org/docs/XRay.html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294" name="Google Shape;29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8350" y="368825"/>
            <a:ext cx="2490725" cy="24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Example</a:t>
            </a:r>
            <a:endParaRPr/>
          </a:p>
        </p:txBody>
      </p:sp>
      <p:sp>
        <p:nvSpPr>
          <p:cNvPr id="300" name="Google Shape;300;p40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301" name="Google Shape;3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499" y="1086750"/>
            <a:ext cx="486542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1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308" name="Google Shape;3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50" y="1223275"/>
            <a:ext cx="8389549" cy="28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Example</a:t>
            </a:r>
            <a:endParaRPr/>
          </a:p>
        </p:txBody>
      </p:sp>
      <p:sp>
        <p:nvSpPr>
          <p:cNvPr id="314" name="Google Shape;314;p42"/>
          <p:cNvSpPr txBox="1"/>
          <p:nvPr>
            <p:ph idx="4294967295" type="body"/>
          </p:nvPr>
        </p:nvSpPr>
        <p:spPr>
          <a:xfrm>
            <a:off x="311700" y="1444451"/>
            <a:ext cx="8679600" cy="21561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clang++ -o test_xray test_xray.cpp -fxray-instrument -fxray-instruction-threshold=1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./test_xray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FuncID: 1, Type: 0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Foo!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FuncID: 1, Type: 1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xray_instr_map</a:t>
            </a:r>
            <a:endParaRPr/>
          </a:p>
        </p:txBody>
      </p:sp>
      <p:sp>
        <p:nvSpPr>
          <p:cNvPr id="320" name="Google Shape;320;p43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</p:txBody>
      </p:sp>
      <p:sp>
        <p:nvSpPr>
          <p:cNvPr id="321" name="Google Shape;321;p43"/>
          <p:cNvSpPr txBox="1"/>
          <p:nvPr>
            <p:ph idx="4294967295" type="body"/>
          </p:nvPr>
        </p:nvSpPr>
        <p:spPr>
          <a:xfrm>
            <a:off x="311700" y="1444455"/>
            <a:ext cx="8679600" cy="26376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objdump -h -j xray_instr_map test_xray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test_xray:     file format elf64-x86-64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Sections: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Idx Name          Size      VMA               LMA               File off  Algn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17 xray_instr_map 00000080  000000000002c6c4  000000000002c6c4  0002c6c4  2**0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CONTENTS, ALLOC, LOAD, READONLY, DATA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Before patching foo</a:t>
            </a:r>
            <a:endParaRPr/>
          </a:p>
        </p:txBody>
      </p:sp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</p:txBody>
      </p:sp>
      <p:sp>
        <p:nvSpPr>
          <p:cNvPr id="328" name="Google Shape;328;p44"/>
          <p:cNvSpPr txBox="1"/>
          <p:nvPr>
            <p:ph idx="4294967295" type="body"/>
          </p:nvPr>
        </p:nvSpPr>
        <p:spPr>
          <a:xfrm>
            <a:off x="311700" y="1444455"/>
            <a:ext cx="8679600" cy="26376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78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(lldb) dis -C 10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test_xray`foo: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-&gt;  </a:t>
            </a:r>
            <a:r>
              <a:rPr b="1" lang="es"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0x555555578360 &lt;+0&gt;:  jmp    0x55555557836b ; &lt;+11&gt;</a:t>
            </a:r>
            <a:endParaRPr b="1" sz="14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0x555555578362 &lt;+2&gt;:  nopw   0x200(%rax,%rax)</a:t>
            </a:r>
            <a:endParaRPr b="1" sz="14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0x55555557836b &lt;+11&gt;: pushq 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0x55555557836c &lt;+12&gt;: movq   %rsp,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0x55555557836f &lt;+15&gt;: leaq   0x8348(%rip), %rdi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0x555555578376 &lt;+22&gt;: movb   $0x0, %al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0x555555578378 &lt;+24&gt;: callq  0x555555556040 ; symbol stub for: printf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0x55555557837d &lt;+29&gt;: popq  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0x55555557837e &lt;+30&gt;: retq</a:t>
            </a:r>
            <a:endParaRPr b="1" sz="14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4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0x55555557837f &lt;+31&gt;: nopw   %cs:0x200(%rax,%rax)</a:t>
            </a:r>
            <a:endParaRPr b="1" sz="14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9" name="Google Shape;329;p44"/>
          <p:cNvCxnSpPr/>
          <p:nvPr/>
        </p:nvCxnSpPr>
        <p:spPr>
          <a:xfrm flipH="1">
            <a:off x="5087000" y="1433975"/>
            <a:ext cx="847800" cy="544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44"/>
          <p:cNvSpPr txBox="1"/>
          <p:nvPr/>
        </p:nvSpPr>
        <p:spPr>
          <a:xfrm>
            <a:off x="5735925" y="982750"/>
            <a:ext cx="15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entry sled</a:t>
            </a:r>
            <a:endParaRPr sz="18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1" name="Google Shape;331;p44"/>
          <p:cNvCxnSpPr/>
          <p:nvPr/>
        </p:nvCxnSpPr>
        <p:spPr>
          <a:xfrm rot="10800000">
            <a:off x="4888200" y="3972775"/>
            <a:ext cx="1015200" cy="255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44"/>
          <p:cNvSpPr txBox="1"/>
          <p:nvPr/>
        </p:nvSpPr>
        <p:spPr>
          <a:xfrm>
            <a:off x="5951124" y="3983242"/>
            <a:ext cx="15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exit sled</a:t>
            </a:r>
            <a:endParaRPr sz="18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XRay: After patching foo</a:t>
            </a:r>
            <a:endParaRPr/>
          </a:p>
        </p:txBody>
      </p:sp>
      <p:sp>
        <p:nvSpPr>
          <p:cNvPr id="338" name="Google Shape;338;p45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</p:txBody>
      </p:sp>
      <p:sp>
        <p:nvSpPr>
          <p:cNvPr id="339" name="Google Shape;339;p45"/>
          <p:cNvSpPr txBox="1"/>
          <p:nvPr>
            <p:ph idx="4294967295" type="body"/>
          </p:nvPr>
        </p:nvSpPr>
        <p:spPr>
          <a:xfrm>
            <a:off x="311700" y="1444455"/>
            <a:ext cx="8679600" cy="26376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78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(lldb) dis -C 10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test_xray`foo: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-&gt;  </a:t>
            </a:r>
            <a:r>
              <a:rPr b="1" lang="es"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0x555555578370 &lt;+0&gt;:  movl   $0x1, %r10d</a:t>
            </a:r>
            <a:endParaRPr b="1" sz="14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0x555555578376 &lt;+6&gt;:  callq  0x555555574340 ; __xray_FunctionEntry</a:t>
            </a:r>
            <a:endParaRPr b="1" sz="14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0x55555557837b &lt;+11&gt;: pushq 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0x55555557837c &lt;+12&gt;: movq   %rsp,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0x55555557837f &lt;+15&gt;: leaq   0x8338(%rip), %rdi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0x555555578386 &lt;+22&gt;: movb   $0x0, %al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0x555555578388 &lt;+24&gt;: callq  0x555555556040 ; symbol stub for: printf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0x55555557838d &lt;+29&gt;: popq   %rbp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4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0x55555557838e &lt;+30&gt;: movl   $0x1, %r10d</a:t>
            </a:r>
            <a:endParaRPr b="1" sz="14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   0x555555578394 &lt;+36&gt;: jmp    0x555555574480 ; __xray_FunctionExit</a:t>
            </a:r>
            <a:endParaRPr b="1" sz="14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ctrTitle"/>
          </p:nvPr>
        </p:nvSpPr>
        <p:spPr>
          <a:xfrm>
            <a:off x="2127500" y="2046425"/>
            <a:ext cx="71568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Integration into ClickHouse</a:t>
            </a:r>
            <a:endParaRPr sz="3700"/>
          </a:p>
        </p:txBody>
      </p:sp>
      <p:sp>
        <p:nvSpPr>
          <p:cNvPr id="345" name="Google Shape;345;p46"/>
          <p:cNvSpPr txBox="1"/>
          <p:nvPr/>
        </p:nvSpPr>
        <p:spPr>
          <a:xfrm>
            <a:off x="423575" y="1769625"/>
            <a:ext cx="1563600" cy="1107000"/>
          </a:xfrm>
          <a:prstGeom prst="rect">
            <a:avLst/>
          </a:prstGeom>
          <a:solidFill>
            <a:srgbClr val="161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>
                <a:solidFill>
                  <a:srgbClr val="FBFF56"/>
                </a:solidFill>
                <a:latin typeface="Inter Black"/>
                <a:ea typeface="Inter Black"/>
                <a:cs typeface="Inter Black"/>
                <a:sym typeface="Inter Black"/>
              </a:rPr>
              <a:t>03</a:t>
            </a:r>
            <a:endParaRPr sz="7000">
              <a:solidFill>
                <a:srgbClr val="FBFF56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What’s ClickHouse</a:t>
            </a:r>
            <a:endParaRPr/>
          </a:p>
        </p:txBody>
      </p:sp>
      <p:sp>
        <p:nvSpPr>
          <p:cNvPr id="351" name="Google Shape;351;p47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500">
                <a:solidFill>
                  <a:srgbClr val="443F51"/>
                </a:solidFill>
              </a:rPr>
              <a:t>Fast OLAP DBMS</a:t>
            </a:r>
            <a:endParaRPr sz="1500">
              <a:solidFill>
                <a:srgbClr val="443F5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500">
                <a:solidFill>
                  <a:srgbClr val="443F51"/>
                </a:solidFill>
              </a:rPr>
              <a:t>Started in 2009 at Yandex.Metrica by Alexey Milovidov</a:t>
            </a:r>
            <a:endParaRPr sz="1500">
              <a:solidFill>
                <a:srgbClr val="443F5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500">
                <a:solidFill>
                  <a:srgbClr val="443F51"/>
                </a:solidFill>
              </a:rPr>
              <a:t>Open sourced in 2016 under Apache 2.0 license</a:t>
            </a:r>
            <a:endParaRPr sz="1500">
              <a:solidFill>
                <a:srgbClr val="443F5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500">
                <a:solidFill>
                  <a:srgbClr val="443F51"/>
                </a:solidFill>
              </a:rPr>
              <a:t>Developed in C++</a:t>
            </a:r>
            <a:endParaRPr sz="1500">
              <a:solidFill>
                <a:srgbClr val="443F5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500">
                <a:solidFill>
                  <a:srgbClr val="443F51"/>
                </a:solidFill>
              </a:rPr>
              <a:t>Strong focus in performance</a:t>
            </a:r>
            <a:endParaRPr sz="1500">
              <a:solidFill>
                <a:srgbClr val="443F5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●"/>
            </a:pPr>
            <a:r>
              <a:rPr lang="es" sz="1400">
                <a:solidFill>
                  <a:srgbClr val="443F51"/>
                </a:solidFill>
              </a:rPr>
              <a:t>Lots of dogfooding</a:t>
            </a:r>
            <a:endParaRPr sz="1400">
              <a:solidFill>
                <a:srgbClr val="443F51"/>
              </a:solidFill>
            </a:endParaRPr>
          </a:p>
          <a:p>
            <a:pPr indent="-32385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500"/>
              <a:buChar char="○"/>
            </a:pPr>
            <a:r>
              <a:rPr lang="es" sz="1400">
                <a:solidFill>
                  <a:srgbClr val="443F51"/>
                </a:solidFill>
              </a:rPr>
              <a:t>CI results, observability, pastila, c.house, etc</a:t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https://clickhouse.com</a:t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4"/>
              </a:rPr>
              <a:t>https://benchmark.clickhouse.com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352" name="Google Shape;35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971" y="1086750"/>
            <a:ext cx="2827324" cy="2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Integrating XRay into ClickHouse</a:t>
            </a:r>
            <a:endParaRPr/>
          </a:p>
        </p:txBody>
      </p:sp>
      <p:sp>
        <p:nvSpPr>
          <p:cNvPr id="358" name="Google Shape;358;p48"/>
          <p:cNvSpPr txBox="1"/>
          <p:nvPr>
            <p:ph idx="1" type="body"/>
          </p:nvPr>
        </p:nvSpPr>
        <p:spPr>
          <a:xfrm>
            <a:off x="311700" y="1086750"/>
            <a:ext cx="563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Use XRay’s instrumentation to have negligible overhead in production when disabled</a:t>
            </a:r>
            <a:endParaRPr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Use XRay’s runtime library to enable in production only the symbols we want to instrument</a:t>
            </a:r>
            <a:endParaRPr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Use SQL statements to enable/disable instrumentation points at runtime</a:t>
            </a:r>
            <a:endParaRPr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Kudos to our intern Alina Badakhova for doing the POC to prove it was feasible</a:t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https://github.com/ClickHouse/ClickHouse/issues/74249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359" name="Google Shape;35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850" y="1007825"/>
            <a:ext cx="2724450" cy="27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Integrating XRay into ClickHouse</a:t>
            </a:r>
            <a:endParaRPr/>
          </a:p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>
            <a:off x="311700" y="1086750"/>
            <a:ext cx="563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Landed in ClickHouse 25.12 (December 25)</a:t>
            </a:r>
            <a:endParaRPr/>
          </a:p>
          <a:p>
            <a:pPr indent="-3175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/>
              <a:t>Minor improvements since then, all backported</a:t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https://github.com/ClickHouse/ClickHouse/pull/89173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366" name="Google Shape;36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250" y="1081962"/>
            <a:ext cx="2941125" cy="297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Cheatsheet</a:t>
            </a:r>
            <a:endParaRPr/>
          </a:p>
        </p:txBody>
      </p:sp>
      <p:sp>
        <p:nvSpPr>
          <p:cNvPr id="372" name="Google Shape;372;p50"/>
          <p:cNvSpPr txBox="1"/>
          <p:nvPr>
            <p:ph idx="4294967295" type="body"/>
          </p:nvPr>
        </p:nvSpPr>
        <p:spPr>
          <a:xfrm>
            <a:off x="748950" y="1097675"/>
            <a:ext cx="7645500" cy="3392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Check symbols to add instrumentation points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system.symbols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IS NOT NULL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Add or remove instrumentation points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INSTRUMENT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[ADD|REMOVE] 'SYMBOL' HANDLER [ENTRY|EXIT] [PARAMS]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Check the enabled instrumentation points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system.instrumentation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Check the instrumented points hit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system.trace_log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trace_type = 'Instrumentation'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Inspecting symbols</a:t>
            </a:r>
            <a:endParaRPr/>
          </a:p>
        </p:txBody>
      </p:sp>
      <p:sp>
        <p:nvSpPr>
          <p:cNvPr id="378" name="Google Shape;378;p51"/>
          <p:cNvSpPr txBox="1"/>
          <p:nvPr>
            <p:ph idx="4294967295" type="body"/>
          </p:nvPr>
        </p:nvSpPr>
        <p:spPr>
          <a:xfrm>
            <a:off x="725700" y="1203900"/>
            <a:ext cx="7692600" cy="2735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allow_introspection_functions=1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Check symbols to add instrumentation points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function_id, symbol_demangled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system.symbols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35"/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symbol_demangled ILIKE '%QueryMetricLog::start%'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Inspecting symbols</a:t>
            </a:r>
            <a:endParaRPr/>
          </a:p>
        </p:txBody>
      </p:sp>
      <p:sp>
        <p:nvSpPr>
          <p:cNvPr id="384" name="Google Shape;384;p52"/>
          <p:cNvSpPr txBox="1"/>
          <p:nvPr>
            <p:ph idx="4294967295" type="body"/>
          </p:nvPr>
        </p:nvSpPr>
        <p:spPr>
          <a:xfrm>
            <a:off x="748950" y="1097675"/>
            <a:ext cx="7645500" cy="3392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1: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symbol_demangled: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2: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   202933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symbol_demangled: void std::__1::__function::__policy_func&lt;void ()&gt;::__call_func[abi:ne210105]&lt;DB::QueryMetricLog::startQuery(std::__1::basic_string&lt;char,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long)::$_0&gt;(std::__1::__function::__policy_storage const*)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Adding instrumentation</a:t>
            </a:r>
            <a:endParaRPr/>
          </a:p>
        </p:txBody>
      </p:sp>
      <p:sp>
        <p:nvSpPr>
          <p:cNvPr id="390" name="Google Shape;390;p53"/>
          <p:cNvSpPr txBox="1"/>
          <p:nvPr>
            <p:ph idx="4294967295" type="body"/>
          </p:nvPr>
        </p:nvSpPr>
        <p:spPr>
          <a:xfrm>
            <a:off x="530400" y="1390753"/>
            <a:ext cx="8083200" cy="26496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 a log with stacktrace at function entry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ADD 'QueryMetricLog::startQuery'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LOG ENTRY 'FOSDEM 26'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Add a random sleep [0, 0.5] secs at function exit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ADD 'QueryMetricLog::startQuery'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SLEEP EXIT 0 0.5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Profile deterministically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35"/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ADD 'QueryMetricLog::startQuery'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PROFILE</a:t>
            </a: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Adding instrumentation</a:t>
            </a:r>
            <a:endParaRPr/>
          </a:p>
        </p:txBody>
      </p:sp>
      <p:sp>
        <p:nvSpPr>
          <p:cNvPr id="396" name="Google Shape;396;p54"/>
          <p:cNvSpPr txBox="1"/>
          <p:nvPr>
            <p:ph idx="4294967295" type="body"/>
          </p:nvPr>
        </p:nvSpPr>
        <p:spPr>
          <a:xfrm>
            <a:off x="748950" y="1097675"/>
            <a:ext cx="7645500" cy="3392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system.instrumentation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1: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id:            0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function_name: QueryMetricLog::startQuery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handler:       log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entry_type:    Entry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symbol:       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parameters:    ['FOSDEM 26']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Adding instrumentation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5"/>
          <p:cNvSpPr txBox="1"/>
          <p:nvPr>
            <p:ph idx="4294967295" type="body"/>
          </p:nvPr>
        </p:nvSpPr>
        <p:spPr>
          <a:xfrm>
            <a:off x="748950" y="1097675"/>
            <a:ext cx="7645500" cy="3392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2: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id:            1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function_name: QueryMetricLog::startQuery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handler:       sleep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entry_type:    Exit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symbol:       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parameters:    [0,0.5]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Adding instrumentation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6"/>
          <p:cNvSpPr txBox="1"/>
          <p:nvPr>
            <p:ph idx="4294967295" type="body"/>
          </p:nvPr>
        </p:nvSpPr>
        <p:spPr>
          <a:xfrm>
            <a:off x="748950" y="1097675"/>
            <a:ext cx="7645500" cy="33927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3: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id:            2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function_name: QueryMetricLog::startQuery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handler:       profile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entry_type:    EntryAndExit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symbol:       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parameters:    []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Removing instrumentation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7"/>
          <p:cNvSpPr txBox="1"/>
          <p:nvPr>
            <p:ph idx="4294967295" type="body"/>
          </p:nvPr>
        </p:nvSpPr>
        <p:spPr>
          <a:xfrm>
            <a:off x="749250" y="1288800"/>
            <a:ext cx="7645500" cy="25659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Remove all instrumented points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REMOVE ALL;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Remove a specific instrumented point with id 2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REMOVE 2;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 Remove all entry points for function 'QueryMetricLog::startQuery'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 INSTRUMENT REMOVE 'QueryMetricLog::startQuery';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Checking trace_log</a:t>
            </a:r>
            <a:endParaRPr/>
          </a:p>
        </p:txBody>
      </p:sp>
      <p:sp>
        <p:nvSpPr>
          <p:cNvPr id="420" name="Google Shape;420;p58"/>
          <p:cNvSpPr txBox="1"/>
          <p:nvPr>
            <p:ph idx="4294967295" type="body"/>
          </p:nvPr>
        </p:nvSpPr>
        <p:spPr>
          <a:xfrm>
            <a:off x="749250" y="1288800"/>
            <a:ext cx="7645500" cy="25659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event_time_microseconds,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function_id,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function_name,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handler,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entry_type,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duration_nanoseconds                                                                                                                                                                                FROM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system.trace_log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trace_type = 'Instrumentation'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Checking trace_log</a:t>
            </a:r>
            <a:endParaRPr/>
          </a:p>
        </p:txBody>
      </p:sp>
      <p:sp>
        <p:nvSpPr>
          <p:cNvPr id="426" name="Google Shape;426;p59"/>
          <p:cNvSpPr txBox="1"/>
          <p:nvPr>
            <p:ph idx="4294967295" type="body"/>
          </p:nvPr>
        </p:nvSpPr>
        <p:spPr>
          <a:xfrm>
            <a:off x="749250" y="1288800"/>
            <a:ext cx="7655700" cy="32121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1: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event_time_microseconds: 2026-01-29 11:55:20.553718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       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function_name:          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handler:                 profile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entry_type:              Entry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duration_nanoseconds:    ᴺᵁᴸᴸ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Checking trace_log</a:t>
            </a:r>
            <a:endParaRPr/>
          </a:p>
        </p:txBody>
      </p:sp>
      <p:sp>
        <p:nvSpPr>
          <p:cNvPr id="432" name="Google Shape;432;p60"/>
          <p:cNvSpPr txBox="1"/>
          <p:nvPr>
            <p:ph idx="4294967295" type="body"/>
          </p:nvPr>
        </p:nvSpPr>
        <p:spPr>
          <a:xfrm>
            <a:off x="749250" y="1288800"/>
            <a:ext cx="7655700" cy="32121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 2: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event_time_microseconds: 2026-01-29 11:55:20.553758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function_id:             202915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function_name:           DB::QueryMetricLog::startQuery(std::__1::basic_string&lt;char, std::__1::char_traits&lt;char&gt;, std::__1::allocator&lt;char&gt;&gt; const&amp;, std::__1::chrono::time_point&lt;std::__1::chrono::system_clock, std::__1::chrono::duration&lt;long long, std::__1::ratio&lt;1l, 1000000l&gt;&gt;&gt;, unsigned long)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handler:                 profile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entry_type:              Exit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duration_nanoseconds:    40059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Visualizing the profile</a:t>
            </a:r>
            <a:endParaRPr/>
          </a:p>
        </p:txBody>
      </p:sp>
      <p:sp>
        <p:nvSpPr>
          <p:cNvPr id="438" name="Google Shape;438;p61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400"/>
              <a:buChar char="●"/>
            </a:pPr>
            <a:r>
              <a:rPr lang="es" sz="1400">
                <a:solidFill>
                  <a:srgbClr val="443F51"/>
                </a:solidFill>
              </a:rPr>
              <a:t>Use Chrome’s Trace Event Format with different visualizers</a:t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400" u="sng">
                <a:solidFill>
                  <a:schemeClr val="hlink"/>
                </a:solidFill>
                <a:hlinkClick r:id="rId3"/>
              </a:rPr>
              <a:t>https://docs.google.com/document/d/1CvAClvFfyA5R-PhYUmn5OOQtYMH4h6I0nSsKchNAySU/preview?tab=t.0</a:t>
            </a:r>
            <a:endParaRPr sz="1400">
              <a:solidFill>
                <a:srgbClr val="443F51"/>
              </a:solidFill>
            </a:endParaRPr>
          </a:p>
        </p:txBody>
      </p:sp>
      <p:pic>
        <p:nvPicPr>
          <p:cNvPr id="439" name="Google Shape;43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1975" y="1722099"/>
            <a:ext cx="2043225" cy="20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 txBox="1"/>
          <p:nvPr>
            <p:ph idx="4294967295" type="body"/>
          </p:nvPr>
        </p:nvSpPr>
        <p:spPr>
          <a:xfrm>
            <a:off x="439625" y="1743025"/>
            <a:ext cx="5966100" cy="13503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9525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[ </a:t>
            </a:r>
            <a:endParaRPr sz="1300">
              <a:solidFill>
                <a:srgbClr val="000000"/>
              </a:solidFill>
              <a:highlight>
                <a:srgbClr val="EEEEE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9525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"Asub"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"cat"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"PERF"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"ph"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"pid"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22630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    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"tid"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22630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"ts"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829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sz="1300">
              <a:solidFill>
                <a:srgbClr val="000000"/>
              </a:solidFill>
              <a:highlight>
                <a:srgbClr val="EEEEE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9525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"Asub"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"cat"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"PERF"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"ph"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"E"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"pid"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22630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"tid"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22630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300">
                <a:solidFill>
                  <a:srgbClr val="0088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"ts"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300">
                <a:solidFill>
                  <a:srgbClr val="006666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833</a:t>
            </a: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0000"/>
              </a:solidFill>
              <a:highlight>
                <a:srgbClr val="EEEEE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9525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000000"/>
                </a:solidFill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Converting the data</a:t>
            </a:r>
            <a:endParaRPr/>
          </a:p>
        </p:txBody>
      </p:sp>
      <p:sp>
        <p:nvSpPr>
          <p:cNvPr id="446" name="Google Shape;446;p62"/>
          <p:cNvSpPr txBox="1"/>
          <p:nvPr>
            <p:ph idx="4294967295" type="body"/>
          </p:nvPr>
        </p:nvSpPr>
        <p:spPr>
          <a:xfrm>
            <a:off x="744150" y="1058515"/>
            <a:ext cx="7655700" cy="34842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WITH traces AS (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SELECT * FROM system.trace_log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WHERE event_date &gt;= today() AND trace_type = 'Instrumentation' AND handler = 'profile'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ORDER BY event_time, entry_type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format(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'{{"traceEvents": [{}\n]}}',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arrayStringConcat(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groupArray(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format(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'\n{{"name": "{}", "cat": "clickhouse", "ph": "{}", "ts": {}, "pid": 1, "tid": {}, "args": {{"query_id": "{}", "cpu_id": {}, "stack": [{}]}}}},',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function_name, if(entry_type = 0, 'B', 'E'), timestamp_ns/1000,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toString(thread_id), query_id, cpu_id,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arrayStringConcat(arrayMap((x, y) -&gt; concat('"', x, ': ', y, '", '), lines, symbols))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6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traces;</a:t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75"/>
              <a:buNone/>
            </a:pPr>
            <a:r>
              <a:t/>
            </a:r>
            <a:endParaRPr sz="6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Hotpatching using SQL: Visualizing in Perfetto</a:t>
            </a:r>
            <a:endParaRPr/>
          </a:p>
        </p:txBody>
      </p:sp>
      <p:pic>
        <p:nvPicPr>
          <p:cNvPr id="452" name="Google Shape;45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325" y="931065"/>
            <a:ext cx="5489352" cy="367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Future work</a:t>
            </a:r>
            <a:endParaRPr/>
          </a:p>
        </p:txBody>
      </p:sp>
      <p:sp>
        <p:nvSpPr>
          <p:cNvPr id="458" name="Google Shape;458;p64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ts val="1900"/>
              <a:buChar char="●"/>
            </a:pPr>
            <a:r>
              <a:rPr lang="es" sz="1900">
                <a:solidFill>
                  <a:srgbClr val="443F51"/>
                </a:solidFill>
              </a:rPr>
              <a:t>Add more handlers as we see the need for them</a:t>
            </a:r>
            <a:endParaRPr sz="1900">
              <a:solidFill>
                <a:srgbClr val="443F5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900"/>
              <a:buChar char="●"/>
            </a:pPr>
            <a:r>
              <a:rPr lang="es" sz="1900">
                <a:solidFill>
                  <a:srgbClr val="443F51"/>
                </a:solidFill>
              </a:rPr>
              <a:t>Add some VM to allow scripting? Wren, Lua</a:t>
            </a:r>
            <a:endParaRPr sz="1900">
              <a:solidFill>
                <a:srgbClr val="443F5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ts val="1900"/>
              <a:buChar char="●"/>
            </a:pPr>
            <a:r>
              <a:rPr lang="es" sz="1900">
                <a:solidFill>
                  <a:srgbClr val="443F51"/>
                </a:solidFill>
              </a:rPr>
              <a:t>Educate others that this exists so that they use it. Collect their feedback</a:t>
            </a:r>
            <a:endParaRPr sz="1900">
              <a:solidFill>
                <a:srgbClr val="443F5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Caveats</a:t>
            </a:r>
            <a:endParaRPr/>
          </a:p>
        </p:txBody>
      </p:sp>
      <p:sp>
        <p:nvSpPr>
          <p:cNvPr id="464" name="Google Shape;464;p65"/>
          <p:cNvSpPr txBox="1"/>
          <p:nvPr>
            <p:ph idx="1" type="body"/>
          </p:nvPr>
        </p:nvSpPr>
        <p:spPr>
          <a:xfrm>
            <a:off x="311700" y="1086742"/>
            <a:ext cx="844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2210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ct val="100000"/>
              <a:buChar char="●"/>
            </a:pPr>
            <a:r>
              <a:rPr lang="es" sz="1900">
                <a:solidFill>
                  <a:srgbClr val="443F51"/>
                </a:solidFill>
              </a:rPr>
              <a:t>Can’t mix XRay and sanitized builds due to symbols clashing in libclang_rt</a:t>
            </a:r>
            <a:endParaRPr sz="1900">
              <a:solidFill>
                <a:srgbClr val="443F5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43F51"/>
              </a:solidFill>
            </a:endParaRPr>
          </a:p>
          <a:p>
            <a:pPr indent="-322103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43F51"/>
              </a:buClr>
              <a:buSzPct val="100000"/>
              <a:buChar char="●"/>
            </a:pPr>
            <a:r>
              <a:rPr lang="es" sz="1900">
                <a:solidFill>
                  <a:srgbClr val="443F51"/>
                </a:solidFill>
              </a:rPr>
              <a:t>If you mess something with this, you do it big time cause it’s in production</a:t>
            </a:r>
            <a:endParaRPr sz="1900">
              <a:solidFill>
                <a:srgbClr val="443F51"/>
              </a:solidFill>
            </a:endParaRPr>
          </a:p>
          <a:p>
            <a:pPr indent="-32210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3F51"/>
              </a:buClr>
              <a:buSzPct val="100000"/>
              <a:buChar char="●"/>
            </a:pPr>
            <a:r>
              <a:rPr lang="es" sz="1900">
                <a:solidFill>
                  <a:srgbClr val="443F51"/>
                </a:solidFill>
              </a:rPr>
              <a:t>Profiling a function doesn’t profile all functions underneath. That’s very difficult</a:t>
            </a:r>
            <a:endParaRPr sz="1900">
              <a:solidFill>
                <a:srgbClr val="443F51"/>
              </a:solidFill>
            </a:endParaRPr>
          </a:p>
        </p:txBody>
      </p:sp>
      <p:sp>
        <p:nvSpPr>
          <p:cNvPr id="465" name="Google Shape;465;p65"/>
          <p:cNvSpPr txBox="1"/>
          <p:nvPr>
            <p:ph idx="4294967295" type="body"/>
          </p:nvPr>
        </p:nvSpPr>
        <p:spPr>
          <a:xfrm>
            <a:off x="1399075" y="1575753"/>
            <a:ext cx="6164100" cy="1992000"/>
          </a:xfrm>
          <a:prstGeom prst="rect">
            <a:avLst/>
          </a:prstGeom>
          <a:solidFill>
            <a:srgbClr val="E7E9E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ld.lld-19: error: duplicate symbol: __sanitizer::internal_allocator()</a:t>
            </a:r>
            <a:endParaRPr sz="11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s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defined at sanitizer_allocator.cpp.o:(__sanitizer::internal_allocator()) in archive /usr/lib/llvm-19/lib/clang/19/lib/linux/libclang_rt.ubsan_standalone-x86_64.a</a:t>
            </a:r>
            <a:endParaRPr sz="11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75"/>
              <a:buNone/>
            </a:pPr>
            <a:r>
              <a:rPr lang="es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defined at sanitizer_allocator.cpp.o:(.text._ZN11__sanitizer18internal_allocatorEv+0x0) in archive /usr/lib/llvm-19/lib/clang/19/lib/linux/libclang_rt.xray-x86_64.a</a:t>
            </a:r>
            <a:endParaRPr sz="11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175" y="413700"/>
            <a:ext cx="1958029" cy="3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6"/>
          <p:cNvSpPr txBox="1"/>
          <p:nvPr/>
        </p:nvSpPr>
        <p:spPr>
          <a:xfrm>
            <a:off x="300975" y="1010375"/>
            <a:ext cx="5637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Connect with ClickHouse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66"/>
          <p:cNvSpPr txBox="1"/>
          <p:nvPr/>
        </p:nvSpPr>
        <p:spPr>
          <a:xfrm>
            <a:off x="6317925" y="508425"/>
            <a:ext cx="2215800" cy="42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Try ClickHouse for </a:t>
            </a:r>
            <a:b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your use case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-1534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ClickHouse Cloud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9849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Download open source</a:t>
            </a:r>
            <a:br>
              <a:rPr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Learn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-1534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Academy / certifications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984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Blogs / YouTube</a:t>
            </a:r>
            <a:br>
              <a:rPr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Engage with </a:t>
            </a:r>
            <a:b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our community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-1534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Community Slack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34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Monthly Community calls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3499" lvl="0" marL="179999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Meetups / events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s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 are Hiring. Come Work with Us!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473" name="Google Shape;473;p66" title="Screenshot 2025-06-10 at 3.09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75" y="3729027"/>
            <a:ext cx="1352925" cy="5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6" title="Screenshot 2026-01-21 at 1.42.2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976" y="1837627"/>
            <a:ext cx="1756925" cy="17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6" title="Screenshot 2026-01-28 at 9.54.1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2900" y="1813900"/>
            <a:ext cx="1958025" cy="178625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6"/>
          <p:cNvSpPr txBox="1"/>
          <p:nvPr/>
        </p:nvSpPr>
        <p:spPr>
          <a:xfrm>
            <a:off x="2465550" y="3600150"/>
            <a:ext cx="28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ClickHouse Community Dinner</a:t>
            </a:r>
            <a:endParaRPr b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7"/>
          <p:cNvSpPr txBox="1"/>
          <p:nvPr>
            <p:ph type="ctrTitle"/>
          </p:nvPr>
        </p:nvSpPr>
        <p:spPr>
          <a:xfrm>
            <a:off x="979700" y="2117900"/>
            <a:ext cx="2515500" cy="11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/>
              <a:t>Q&amp;A</a:t>
            </a:r>
            <a:endParaRPr sz="7000"/>
          </a:p>
        </p:txBody>
      </p:sp>
      <p:sp>
        <p:nvSpPr>
          <p:cNvPr id="482" name="Google Shape;482;p67"/>
          <p:cNvSpPr txBox="1"/>
          <p:nvPr>
            <p:ph type="ctrTitle"/>
          </p:nvPr>
        </p:nvSpPr>
        <p:spPr>
          <a:xfrm>
            <a:off x="4937625" y="393477"/>
            <a:ext cx="2769300" cy="3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All links from the slides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67"/>
          <p:cNvSpPr txBox="1"/>
          <p:nvPr/>
        </p:nvSpPr>
        <p:spPr>
          <a:xfrm>
            <a:off x="5118391" y="4527900"/>
            <a:ext cx="30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u="sng">
                <a:solidFill>
                  <a:schemeClr val="hlink"/>
                </a:solidFill>
                <a:hlinkClick r:id="rId3"/>
              </a:rPr>
              <a:t>https://c.house/links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4" name="Google Shape;48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000" y="973450"/>
            <a:ext cx="3431550" cy="34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51515"/>
      </a:dk1>
      <a:lt1>
        <a:srgbClr val="FFFFFF"/>
      </a:lt1>
      <a:dk2>
        <a:srgbClr val="606060"/>
      </a:dk2>
      <a:lt2>
        <a:srgbClr val="C0C0C0"/>
      </a:lt2>
      <a:accent1>
        <a:srgbClr val="4285F4"/>
      </a:accent1>
      <a:accent2>
        <a:srgbClr val="FBFF56"/>
      </a:accent2>
      <a:accent3>
        <a:srgbClr val="2AC656"/>
      </a:accent3>
      <a:accent4>
        <a:srgbClr val="81E59D"/>
      </a:accent4>
      <a:accent5>
        <a:srgbClr val="F10000"/>
      </a:accent5>
      <a:accent6>
        <a:srgbClr val="FF7575"/>
      </a:accent6>
      <a:hlink>
        <a:srgbClr val="135B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